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7" r:id="rId2"/>
    <p:sldId id="258" r:id="rId3"/>
    <p:sldId id="259" r:id="rId4"/>
    <p:sldId id="260" r:id="rId5"/>
    <p:sldId id="261" r:id="rId6"/>
    <p:sldId id="277" r:id="rId7"/>
    <p:sldId id="276" r:id="rId8"/>
    <p:sldId id="274" r:id="rId9"/>
    <p:sldId id="266" r:id="rId10"/>
    <p:sldId id="275" r:id="rId11"/>
    <p:sldId id="268" r:id="rId12"/>
    <p:sldId id="269" r:id="rId13"/>
    <p:sldId id="270" r:id="rId14"/>
    <p:sldId id="267" r:id="rId15"/>
    <p:sldId id="271"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8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FE26DE-5398-4BF2-A51B-F8F12F32CB2D}" type="datetimeFigureOut">
              <a:rPr lang="en-US" smtClean="0"/>
              <a:pPr/>
              <a:t>8/25/2025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120C6F-45BA-4372-8E98-D1D8DB14692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a:stretch/>
        </p:blipFill>
        <p:spPr>
          <a:xfrm>
            <a:off x="0" y="1"/>
            <a:ext cx="9144000" cy="6857999"/>
          </a:xfrm>
          <a:prstGeom prst="rect">
            <a:avLst/>
          </a:prstGeom>
          <a:noFill/>
          <a:ln>
            <a:noFill/>
          </a:ln>
        </p:spPr>
      </p:pic>
      <p:sp>
        <p:nvSpPr>
          <p:cNvPr id="17" name="Google Shape;17;p2"/>
          <p:cNvSpPr txBox="1">
            <a:spLocks noGrp="1"/>
          </p:cNvSpPr>
          <p:nvPr>
            <p:ph type="ctrTitle"/>
          </p:nvPr>
        </p:nvSpPr>
        <p:spPr>
          <a:xfrm>
            <a:off x="708660" y="2836506"/>
            <a:ext cx="7199034" cy="19425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708660" y="5108704"/>
            <a:ext cx="6858000" cy="60550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2"/>
          <p:cNvPicPr preferRelativeResize="0"/>
          <p:nvPr/>
        </p:nvPicPr>
        <p:blipFill rotWithShape="1">
          <a:blip r:embed="rId3" cstate="print">
            <a:alphaModFix/>
          </a:blip>
          <a:srcRect/>
          <a:stretch/>
        </p:blipFill>
        <p:spPr>
          <a:xfrm>
            <a:off x="708661" y="1041400"/>
            <a:ext cx="2363444" cy="686813"/>
          </a:xfrm>
          <a:prstGeom prst="rect">
            <a:avLst/>
          </a:prstGeom>
          <a:noFill/>
          <a:ln>
            <a:noFill/>
          </a:ln>
        </p:spPr>
      </p:pic>
      <p:pic>
        <p:nvPicPr>
          <p:cNvPr id="20" name="Google Shape;20;p2"/>
          <p:cNvPicPr preferRelativeResize="0"/>
          <p:nvPr/>
        </p:nvPicPr>
        <p:blipFill rotWithShape="1">
          <a:blip r:embed="rId4">
            <a:alphaModFix/>
          </a:blip>
          <a:srcRect/>
          <a:stretch/>
        </p:blipFill>
        <p:spPr>
          <a:xfrm>
            <a:off x="708660" y="6334744"/>
            <a:ext cx="1293989" cy="365792"/>
          </a:xfrm>
          <a:prstGeom prst="rect">
            <a:avLst/>
          </a:prstGeom>
          <a:noFill/>
          <a:ln>
            <a:noFill/>
          </a:ln>
        </p:spPr>
      </p:pic>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pic>
        <p:nvPicPr>
          <p:cNvPr id="22" name="Google Shape;22;p3"/>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23" name="Google Shape;23;p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5" name="Google Shape;25;p3"/>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26" name="Google Shape;26;p3"/>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27" name="Google Shape;27;p3"/>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28" name="Google Shape;28;p3"/>
          <p:cNvPicPr preferRelativeResize="0"/>
          <p:nvPr/>
        </p:nvPicPr>
        <p:blipFill rotWithShape="1">
          <a:blip r:embed="rId5">
            <a:alphaModFix amt="20000"/>
          </a:blip>
          <a:srcRect t="911" r="25322" b="910"/>
          <a:stretch/>
        </p:blipFill>
        <p:spPr>
          <a:xfrm>
            <a:off x="1" y="0"/>
            <a:ext cx="9123005" cy="6858000"/>
          </a:xfrm>
          <a:prstGeom prst="rect">
            <a:avLst/>
          </a:prstGeom>
          <a:noFill/>
          <a:ln>
            <a:noFill/>
          </a:ln>
        </p:spPr>
      </p:pic>
      <p:sp>
        <p:nvSpPr>
          <p:cNvPr id="29" name="Google Shape;29;p3"/>
          <p:cNvSpPr/>
          <p:nvPr/>
        </p:nvSpPr>
        <p:spPr>
          <a:xfrm>
            <a:off x="0" y="0"/>
            <a:ext cx="259773" cy="421972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 name="Google Shape;30;p3"/>
          <p:cNvSpPr/>
          <p:nvPr/>
        </p:nvSpPr>
        <p:spPr>
          <a:xfrm>
            <a:off x="0" y="4219720"/>
            <a:ext cx="259773" cy="263827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31" name="Google Shape;31;p3"/>
          <p:cNvCxnSpPr/>
          <p:nvPr/>
        </p:nvCxnSpPr>
        <p:spPr>
          <a:xfrm>
            <a:off x="685800" y="6280030"/>
            <a:ext cx="1397480" cy="0"/>
          </a:xfrm>
          <a:prstGeom prst="straightConnector1">
            <a:avLst/>
          </a:prstGeom>
          <a:noFill/>
          <a:ln w="19050" cap="flat" cmpd="sng">
            <a:solidFill>
              <a:schemeClr val="lt2"/>
            </a:solidFill>
            <a:prstDash val="solid"/>
            <a:miter lim="800000"/>
            <a:headEnd type="none" w="sm" len="sm"/>
            <a:tailEnd type="none" w="sm" len="sm"/>
          </a:ln>
        </p:spPr>
      </p:cxn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2"/>
        <p:cNvGrpSpPr/>
        <p:nvPr/>
      </p:nvGrpSpPr>
      <p:grpSpPr>
        <a:xfrm>
          <a:off x="0" y="0"/>
          <a:ext cx="0" cy="0"/>
          <a:chOff x="0" y="0"/>
          <a:chExt cx="0" cy="0"/>
        </a:xfrm>
      </p:grpSpPr>
      <p:pic>
        <p:nvPicPr>
          <p:cNvPr id="33" name="Google Shape;33;p4"/>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34" name="Google Shape;34;p4"/>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6000"/>
              <a:buFont typeface="Arial"/>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36" name="Google Shape;36;p4"/>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37" name="Google Shape;37;p4"/>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38" name="Google Shape;38;p4"/>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pic>
        <p:nvPicPr>
          <p:cNvPr id="40" name="Google Shape;40;p5"/>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41" name="Google Shape;41;p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5"/>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4" name="Google Shape;44;p5"/>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45" name="Google Shape;45;p5"/>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46" name="Google Shape;46;p5"/>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7"/>
        <p:cNvGrpSpPr/>
        <p:nvPr/>
      </p:nvGrpSpPr>
      <p:grpSpPr>
        <a:xfrm>
          <a:off x="0" y="0"/>
          <a:ext cx="0" cy="0"/>
          <a:chOff x="0" y="0"/>
          <a:chExt cx="0" cy="0"/>
        </a:xfrm>
      </p:grpSpPr>
      <p:pic>
        <p:nvPicPr>
          <p:cNvPr id="48" name="Google Shape;48;p6"/>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49" name="Google Shape;49;p6"/>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6"/>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6"/>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6"/>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6"/>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4" name="Google Shape;54;p6"/>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55" name="Google Shape;55;p6"/>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56" name="Google Shape;56;p6"/>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7"/>
        <p:cNvGrpSpPr/>
        <p:nvPr/>
      </p:nvGrpSpPr>
      <p:grpSpPr>
        <a:xfrm>
          <a:off x="0" y="0"/>
          <a:ext cx="0" cy="0"/>
          <a:chOff x="0" y="0"/>
          <a:chExt cx="0" cy="0"/>
        </a:xfrm>
      </p:grpSpPr>
      <p:pic>
        <p:nvPicPr>
          <p:cNvPr id="58" name="Google Shape;58;p7"/>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59" name="Google Shape;59;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0" name="Google Shape;60;p7"/>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61" name="Google Shape;61;p7"/>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62" name="Google Shape;62;p7"/>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pic>
        <p:nvPicPr>
          <p:cNvPr id="64" name="Google Shape;64;p8"/>
          <p:cNvPicPr preferRelativeResize="0"/>
          <p:nvPr/>
        </p:nvPicPr>
        <p:blipFill rotWithShape="1">
          <a:blip r:embed="rId2" cstate="print">
            <a:alphaModFix/>
          </a:blip>
          <a:srcRect/>
          <a:stretch/>
        </p:blipFill>
        <p:spPr>
          <a:xfrm>
            <a:off x="8817102" y="1"/>
            <a:ext cx="326899" cy="432817"/>
          </a:xfrm>
          <a:prstGeom prst="rect">
            <a:avLst/>
          </a:prstGeom>
          <a:noFill/>
          <a:ln>
            <a:noFill/>
          </a:ln>
        </p:spPr>
      </p:pic>
      <p:pic>
        <p:nvPicPr>
          <p:cNvPr id="65" name="Google Shape;65;p8"/>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66" name="Google Shape;66;p8"/>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67" name="Google Shape;67;p8"/>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8"/>
        <p:cNvGrpSpPr/>
        <p:nvPr/>
      </p:nvGrpSpPr>
      <p:grpSpPr>
        <a:xfrm>
          <a:off x="0" y="0"/>
          <a:ext cx="0" cy="0"/>
          <a:chOff x="0" y="0"/>
          <a:chExt cx="0" cy="0"/>
        </a:xfrm>
      </p:grpSpPr>
      <p:pic>
        <p:nvPicPr>
          <p:cNvPr id="69" name="Google Shape;69;p9"/>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70" name="Google Shape;70;p9"/>
          <p:cNvSpPr txBox="1">
            <a:spLocks noGrp="1"/>
          </p:cNvSpPr>
          <p:nvPr>
            <p:ph type="title"/>
          </p:nvPr>
        </p:nvSpPr>
        <p:spPr>
          <a:xfrm>
            <a:off x="629841" y="457200"/>
            <a:ext cx="2949178"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3" name="Google Shape;73;p9"/>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74" name="Google Shape;74;p9"/>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75" name="Google Shape;75;p9"/>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6"/>
        <p:cNvGrpSpPr/>
        <p:nvPr/>
      </p:nvGrpSpPr>
      <p:grpSpPr>
        <a:xfrm>
          <a:off x="0" y="0"/>
          <a:ext cx="0" cy="0"/>
          <a:chOff x="0" y="0"/>
          <a:chExt cx="0" cy="0"/>
        </a:xfrm>
      </p:grpSpPr>
      <p:sp>
        <p:nvSpPr>
          <p:cNvPr id="77" name="Google Shape;77;p10"/>
          <p:cNvSpPr/>
          <p:nvPr/>
        </p:nvSpPr>
        <p:spPr>
          <a:xfrm>
            <a:off x="3807619" y="885826"/>
            <a:ext cx="4706540" cy="498316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8" name="Google Shape;78;p10"/>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79" name="Google Shape;79;p10"/>
          <p:cNvSpPr txBox="1">
            <a:spLocks noGrp="1"/>
          </p:cNvSpPr>
          <p:nvPr>
            <p:ph type="title"/>
          </p:nvPr>
        </p:nvSpPr>
        <p:spPr>
          <a:xfrm>
            <a:off x="629841" y="457200"/>
            <a:ext cx="2949178"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0"/>
          <p:cNvSpPr>
            <a:spLocks noGrp="1"/>
          </p:cNvSpPr>
          <p:nvPr>
            <p:ph type="pic" idx="2"/>
          </p:nvPr>
        </p:nvSpPr>
        <p:spPr>
          <a:xfrm>
            <a:off x="3887391" y="987426"/>
            <a:ext cx="4549378" cy="4737100"/>
          </a:xfrm>
          <a:prstGeom prst="rect">
            <a:avLst/>
          </a:prstGeom>
          <a:noFill/>
          <a:ln>
            <a:noFill/>
          </a:ln>
        </p:spPr>
      </p:sp>
      <p:sp>
        <p:nvSpPr>
          <p:cNvPr id="81" name="Google Shape;81;p10"/>
          <p:cNvSpPr txBox="1">
            <a:spLocks noGrp="1"/>
          </p:cNvSpPr>
          <p:nvPr>
            <p:ph type="body" idx="1"/>
          </p:nvPr>
        </p:nvSpPr>
        <p:spPr>
          <a:xfrm>
            <a:off x="629841" y="1578718"/>
            <a:ext cx="2949178" cy="42902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2" name="Google Shape;82;p10"/>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83" name="Google Shape;83;p10"/>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84" name="Google Shape;84;p10"/>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5"/>
        <p:cNvGrpSpPr/>
        <p:nvPr/>
      </p:nvGrpSpPr>
      <p:grpSpPr>
        <a:xfrm>
          <a:off x="0" y="0"/>
          <a:ext cx="0" cy="0"/>
          <a:chOff x="0" y="0"/>
          <a:chExt cx="0" cy="0"/>
        </a:xfrm>
      </p:grpSpPr>
      <p:pic>
        <p:nvPicPr>
          <p:cNvPr id="86" name="Google Shape;86;p11"/>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87" name="Google Shape;87;p1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89" name="Google Shape;89;p11"/>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90" name="Google Shape;90;p11"/>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91" name="Google Shape;91;p11"/>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92"/>
        <p:cNvGrpSpPr/>
        <p:nvPr/>
      </p:nvGrpSpPr>
      <p:grpSpPr>
        <a:xfrm>
          <a:off x="0" y="0"/>
          <a:ext cx="0" cy="0"/>
          <a:chOff x="0" y="0"/>
          <a:chExt cx="0" cy="0"/>
        </a:xfrm>
      </p:grpSpPr>
      <p:pic>
        <p:nvPicPr>
          <p:cNvPr id="93" name="Google Shape;93;p12"/>
          <p:cNvPicPr preferRelativeResize="0"/>
          <p:nvPr/>
        </p:nvPicPr>
        <p:blipFill rotWithShape="1">
          <a:blip r:embed="rId2" cstate="print">
            <a:alphaModFix/>
          </a:blip>
          <a:srcRect/>
          <a:stretch/>
        </p:blipFill>
        <p:spPr>
          <a:xfrm>
            <a:off x="8817102" y="1"/>
            <a:ext cx="326899" cy="432817"/>
          </a:xfrm>
          <a:prstGeom prst="rect">
            <a:avLst/>
          </a:prstGeom>
          <a:noFill/>
          <a:ln>
            <a:noFill/>
          </a:ln>
        </p:spPr>
      </p:pic>
      <p:sp>
        <p:nvSpPr>
          <p:cNvPr id="94" name="Google Shape;94;p12"/>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2"/>
          <p:cNvSpPr txBox="1">
            <a:spLocks noGrp="1"/>
          </p:cNvSpPr>
          <p:nvPr>
            <p:ph type="body" idx="1"/>
          </p:nvPr>
        </p:nvSpPr>
        <p:spPr>
          <a:xfrm rot="5400000">
            <a:off x="623094" y="370682"/>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6" name="Google Shape;96;p12"/>
          <p:cNvPicPr preferRelativeResize="0"/>
          <p:nvPr/>
        </p:nvPicPr>
        <p:blipFill rotWithShape="1">
          <a:blip r:embed="rId3">
            <a:alphaModFix/>
          </a:blip>
          <a:srcRect/>
          <a:stretch/>
        </p:blipFill>
        <p:spPr>
          <a:xfrm>
            <a:off x="626251" y="6356350"/>
            <a:ext cx="1293989" cy="365792"/>
          </a:xfrm>
          <a:prstGeom prst="rect">
            <a:avLst/>
          </a:prstGeom>
          <a:noFill/>
          <a:ln>
            <a:noFill/>
          </a:ln>
        </p:spPr>
      </p:pic>
      <p:pic>
        <p:nvPicPr>
          <p:cNvPr id="97" name="Google Shape;97;p12"/>
          <p:cNvPicPr preferRelativeResize="0"/>
          <p:nvPr/>
        </p:nvPicPr>
        <p:blipFill rotWithShape="1">
          <a:blip r:embed="rId4" cstate="print">
            <a:alphaModFix/>
          </a:blip>
          <a:srcRect/>
          <a:stretch/>
        </p:blipFill>
        <p:spPr>
          <a:xfrm>
            <a:off x="8515350" y="5986786"/>
            <a:ext cx="404603" cy="617231"/>
          </a:xfrm>
          <a:prstGeom prst="rect">
            <a:avLst/>
          </a:prstGeom>
          <a:noFill/>
          <a:ln>
            <a:noFill/>
          </a:ln>
        </p:spPr>
      </p:pic>
      <p:sp>
        <p:nvSpPr>
          <p:cNvPr id="98" name="Google Shape;98;p12"/>
          <p:cNvSpPr txBox="1">
            <a:spLocks noGrp="1"/>
          </p:cNvSpPr>
          <p:nvPr>
            <p:ph type="sldNum" idx="12"/>
          </p:nvPr>
        </p:nvSpPr>
        <p:spPr>
          <a:xfrm>
            <a:off x="8718403" y="39526"/>
            <a:ext cx="40460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dk2"/>
        </a:solidFill>
        <a:effectLst/>
      </p:bgPr>
    </p:bg>
    <p:spTree>
      <p:nvGrpSpPr>
        <p:cNvPr id="1" name="Shape 99"/>
        <p:cNvGrpSpPr/>
        <p:nvPr/>
      </p:nvGrpSpPr>
      <p:grpSpPr>
        <a:xfrm>
          <a:off x="0" y="0"/>
          <a:ext cx="0" cy="0"/>
          <a:chOff x="0" y="0"/>
          <a:chExt cx="0" cy="0"/>
        </a:xfrm>
      </p:grpSpPr>
      <p:pic>
        <p:nvPicPr>
          <p:cNvPr id="100" name="Google Shape;100;p13"/>
          <p:cNvPicPr preferRelativeResize="0"/>
          <p:nvPr/>
        </p:nvPicPr>
        <p:blipFill rotWithShape="1">
          <a:blip r:embed="rId2">
            <a:alphaModFix/>
          </a:blip>
          <a:srcRect/>
          <a:stretch/>
        </p:blipFill>
        <p:spPr>
          <a:xfrm>
            <a:off x="819272" y="3032254"/>
            <a:ext cx="256526" cy="376238"/>
          </a:xfrm>
          <a:prstGeom prst="rect">
            <a:avLst/>
          </a:prstGeom>
          <a:noFill/>
          <a:ln>
            <a:noFill/>
          </a:ln>
        </p:spPr>
      </p:pic>
      <p:pic>
        <p:nvPicPr>
          <p:cNvPr id="101" name="Google Shape;101;p13"/>
          <p:cNvPicPr preferRelativeResize="0"/>
          <p:nvPr/>
        </p:nvPicPr>
        <p:blipFill rotWithShape="1">
          <a:blip r:embed="rId3">
            <a:alphaModFix/>
          </a:blip>
          <a:srcRect/>
          <a:stretch/>
        </p:blipFill>
        <p:spPr>
          <a:xfrm>
            <a:off x="832334" y="3926565"/>
            <a:ext cx="230400" cy="384000"/>
          </a:xfrm>
          <a:prstGeom prst="rect">
            <a:avLst/>
          </a:prstGeom>
          <a:noFill/>
          <a:ln>
            <a:noFill/>
          </a:ln>
        </p:spPr>
      </p:pic>
      <p:pic>
        <p:nvPicPr>
          <p:cNvPr id="102" name="Google Shape;102;p13"/>
          <p:cNvPicPr preferRelativeResize="0"/>
          <p:nvPr/>
        </p:nvPicPr>
        <p:blipFill rotWithShape="1">
          <a:blip r:embed="rId4">
            <a:alphaModFix/>
          </a:blip>
          <a:srcRect/>
          <a:stretch/>
        </p:blipFill>
        <p:spPr>
          <a:xfrm>
            <a:off x="795582" y="4758612"/>
            <a:ext cx="303907" cy="405209"/>
          </a:xfrm>
          <a:prstGeom prst="rect">
            <a:avLst/>
          </a:prstGeom>
          <a:noFill/>
          <a:ln>
            <a:noFill/>
          </a:ln>
        </p:spPr>
      </p:pic>
      <p:pic>
        <p:nvPicPr>
          <p:cNvPr id="103" name="Google Shape;103;p13"/>
          <p:cNvPicPr preferRelativeResize="0"/>
          <p:nvPr/>
        </p:nvPicPr>
        <p:blipFill rotWithShape="1">
          <a:blip r:embed="rId5">
            <a:alphaModFix/>
          </a:blip>
          <a:srcRect/>
          <a:stretch/>
        </p:blipFill>
        <p:spPr>
          <a:xfrm>
            <a:off x="832334" y="5676372"/>
            <a:ext cx="2379641" cy="376042"/>
          </a:xfrm>
          <a:prstGeom prst="rect">
            <a:avLst/>
          </a:prstGeom>
          <a:noFill/>
          <a:ln>
            <a:noFill/>
          </a:ln>
        </p:spPr>
      </p:pic>
      <p:pic>
        <p:nvPicPr>
          <p:cNvPr id="104" name="Google Shape;104;p13"/>
          <p:cNvPicPr preferRelativeResize="0"/>
          <p:nvPr/>
        </p:nvPicPr>
        <p:blipFill rotWithShape="1">
          <a:blip r:embed="rId6" cstate="print">
            <a:alphaModFix/>
          </a:blip>
          <a:srcRect/>
          <a:stretch/>
        </p:blipFill>
        <p:spPr>
          <a:xfrm>
            <a:off x="708661" y="1041399"/>
            <a:ext cx="3570428" cy="1037560"/>
          </a:xfrm>
          <a:prstGeom prst="rect">
            <a:avLst/>
          </a:prstGeom>
          <a:noFill/>
          <a:ln>
            <a:noFill/>
          </a:ln>
        </p:spPr>
      </p:pic>
      <p:sp>
        <p:nvSpPr>
          <p:cNvPr id="105" name="Google Shape;105;p13"/>
          <p:cNvSpPr txBox="1"/>
          <p:nvPr/>
        </p:nvSpPr>
        <p:spPr>
          <a:xfrm>
            <a:off x="1221580" y="3921043"/>
            <a:ext cx="6345080"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0731 3111500, 0731 3111501 </a:t>
            </a:r>
            <a:endParaRPr/>
          </a:p>
        </p:txBody>
      </p:sp>
      <p:sp>
        <p:nvSpPr>
          <p:cNvPr id="106" name="Google Shape;106;p13"/>
          <p:cNvSpPr txBox="1"/>
          <p:nvPr/>
        </p:nvSpPr>
        <p:spPr>
          <a:xfrm>
            <a:off x="1221581" y="4797554"/>
            <a:ext cx="6305550" cy="40520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www.medicaps.ac.in</a:t>
            </a:r>
            <a:endParaRPr/>
          </a:p>
        </p:txBody>
      </p:sp>
      <p:sp>
        <p:nvSpPr>
          <p:cNvPr id="107" name="Google Shape;107;p13"/>
          <p:cNvSpPr txBox="1"/>
          <p:nvPr/>
        </p:nvSpPr>
        <p:spPr>
          <a:xfrm>
            <a:off x="1221580" y="3030245"/>
            <a:ext cx="6345080"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A.B. Road, Pigdamber, Rau, Indore – 453331 </a:t>
            </a:r>
            <a:endParaRPr/>
          </a:p>
        </p:txBody>
      </p:sp>
    </p:spTree>
  </p:cSld>
  <p:clrMapOvr>
    <a:masterClrMapping/>
  </p:clrMapOvr>
  <p:extLst mod="1">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ext, and Content" type="txAndObj">
  <p:cSld name="Title, Text, and Conten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200" i="1">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2516940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itle, Text, and 2 Conten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body" idx="2"/>
          </p:nvPr>
        </p:nvSpPr>
        <p:spPr>
          <a:xfrm>
            <a:off x="4648200" y="19812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 name="Google Shape;38;p5"/>
          <p:cNvSpPr txBox="1">
            <a:spLocks noGrp="1"/>
          </p:cNvSpPr>
          <p:nvPr>
            <p:ph type="body" idx="3"/>
          </p:nvPr>
        </p:nvSpPr>
        <p:spPr>
          <a:xfrm>
            <a:off x="4648200" y="41148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200" i="1">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200"/>
              <a:buFont typeface="Times New Roman"/>
              <a:buNone/>
              <a:defRPr sz="1200" b="0" i="1" u="none" strike="noStrike" cap="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2048256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Title, Content, and 2 Content">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7" name="Google Shape;107;p16"/>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8" name="Google Shape;108;p16"/>
          <p:cNvSpPr txBox="1">
            <a:spLocks noGrp="1"/>
          </p:cNvSpPr>
          <p:nvPr>
            <p:ph type="body" idx="2"/>
          </p:nvPr>
        </p:nvSpPr>
        <p:spPr>
          <a:xfrm>
            <a:off x="4648200" y="19812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p16"/>
          <p:cNvSpPr txBox="1">
            <a:spLocks noGrp="1"/>
          </p:cNvSpPr>
          <p:nvPr>
            <p:ph type="body" idx="3"/>
          </p:nvPr>
        </p:nvSpPr>
        <p:spPr>
          <a:xfrm>
            <a:off x="4648200" y="41148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0" name="Google Shape;110;p1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1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sz="1200" i="1">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1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200"/>
              <a:buFont typeface="Times New Roman"/>
              <a:buNone/>
              <a:defRPr sz="1200" b="0" i="1"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search?sca_esv=8e23599b05dcda53&amp;sxsrf=AE3TifOAJAWp6UL6KrgNYaE54d0i3Iq9LQ:1756140291946&amp;q=Attribute-Based+Access+Control+(ABAC)&amp;sa=X&amp;ved=2ahUKEwiC1puytKaPAxXocGwGHakNGjQQxccNegUIjgEQAQ&amp;mstk=AUtExfA_sMD1z0UfxZXEL6AtPkiLc0faP5Vim-OQuHFh4Bd6vKRaZ3nWWkjtBA0ClLNS8HPL_konOhVhNzXCY9KkjDFPsGVrIEcJryIQpQwc7TB-qEZteWPiWjN6EsGNta93y7cEmiaC7TLb3l6z8tLNxlWCqCiemuI-7xBGDBcRdSOzziePH7AxNJHYs5JaXC0iqVeDikF777pYIDtTtx-ZA0UbF3EW8k-tbdBQJzH9uNbewLgQQvaAkn35au_qWFS46kYENCQiuJtagHwB8cYXCUZSLJQhMQ5B8zliC-FxF-Uz1Q&amp;csui=3" TargetMode="External"/><Relationship Id="rId2" Type="http://schemas.openxmlformats.org/officeDocument/2006/relationships/hyperlink" Target="https://www.google.com/search?sca_esv=8e23599b05dcda53&amp;sxsrf=AE3TifOAJAWp6UL6KrgNYaE54d0i3Iq9LQ:1756140291946&amp;q=Role-Based+Access+Control+(RBAC)&amp;sa=X&amp;ved=2ahUKEwiC1puytKaPAxXocGwGHakNGjQQxccNegUIjwEQAQ&amp;mstk=AUtExfA_sMD1z0UfxZXEL6AtPkiLc0faP5Vim-OQuHFh4Bd6vKRaZ3nWWkjtBA0ClLNS8HPL_konOhVhNzXCY9KkjDFPsGVrIEcJryIQpQwc7TB-qEZteWPiWjN6EsGNta93y7cEmiaC7TLb3l6z8tLNxlWCqCiemuI-7xBGDBcRdSOzziePH7AxNJHYs5JaXC0iqVeDikF777pYIDtTtx-ZA0UbF3EW8k-tbdBQJzH9uNbewLgQQvaAkn35au_qWFS46kYENCQiuJtagHwB8cYXCUZSLJQhMQ5B8zliC-FxF-Uz1Q&amp;csui=3" TargetMode="External"/><Relationship Id="rId1" Type="http://schemas.openxmlformats.org/officeDocument/2006/relationships/slideLayout" Target="../slideLayouts/slideLayout2.xml"/><Relationship Id="rId5" Type="http://schemas.openxmlformats.org/officeDocument/2006/relationships/hyperlink" Target="https://www.google.com/search?sca_esv=8e23599b05dcda53&amp;sxsrf=AE3TifOAJAWp6UL6KrgNYaE54d0i3Iq9LQ:1756140291946&amp;q=Discretionary+Access+Control+(DAC)&amp;sa=X&amp;ved=2ahUKEwiC1puytKaPAxXocGwGHakNGjQQxccNegUIjQEQAQ&amp;mstk=AUtExfA_sMD1z0UfxZXEL6AtPkiLc0faP5Vim-OQuHFh4Bd6vKRaZ3nWWkjtBA0ClLNS8HPL_konOhVhNzXCY9KkjDFPsGVrIEcJryIQpQwc7TB-qEZteWPiWjN6EsGNta93y7cEmiaC7TLb3l6z8tLNxlWCqCiemuI-7xBGDBcRdSOzziePH7AxNJHYs5JaXC0iqVeDikF777pYIDtTtx-ZA0UbF3EW8k-tbdBQJzH9uNbewLgQQvaAkn35au_qWFS46kYENCQiuJtagHwB8cYXCUZSLJQhMQ5B8zliC-FxF-Uz1Q&amp;csui=3" TargetMode="External"/><Relationship Id="rId4" Type="http://schemas.openxmlformats.org/officeDocument/2006/relationships/hyperlink" Target="https://www.google.com/search?sca_esv=8e23599b05dcda53&amp;sxsrf=AE3TifOAJAWp6UL6KrgNYaE54d0i3Iq9LQ:1756140291946&amp;q=Mandatory+Access+Control+(MAC)&amp;sa=X&amp;ved=2ahUKEwiC1puytKaPAxXocGwGHakNGjQQxccNegUIkgEQAQ&amp;mstk=AUtExfA_sMD1z0UfxZXEL6AtPkiLc0faP5Vim-OQuHFh4Bd6vKRaZ3nWWkjtBA0ClLNS8HPL_konOhVhNzXCY9KkjDFPsGVrIEcJryIQpQwc7TB-qEZteWPiWjN6EsGNta93y7cEmiaC7TLb3l6z8tLNxlWCqCiemuI-7xBGDBcRdSOzziePH7AxNJHYs5JaXC0iqVeDikF777pYIDtTtx-ZA0UbF3EW8k-tbdBQJzH9uNbewLgQQvaAkn35au_qWFS46kYENCQiuJtagHwB8cYXCUZSLJQhMQ5B8zliC-FxF-Uz1Q&amp;csui=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6"/>
          <p:cNvSpPr txBox="1">
            <a:spLocks noGrp="1"/>
          </p:cNvSpPr>
          <p:nvPr>
            <p:ph type="ctrTitle"/>
          </p:nvPr>
        </p:nvSpPr>
        <p:spPr>
          <a:xfrm>
            <a:off x="708661" y="3906373"/>
            <a:ext cx="7500770" cy="872671"/>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ct val="100000"/>
              <a:buFont typeface="Arial"/>
              <a:buNone/>
            </a:pPr>
            <a:r>
              <a:rPr lang="en-US" dirty="0" smtClean="0">
                <a:latin typeface="+mn-lt"/>
              </a:rPr>
              <a:t>CLOUD SECURITY</a:t>
            </a:r>
            <a:br>
              <a:rPr lang="en-US" dirty="0" smtClean="0">
                <a:latin typeface="+mn-lt"/>
              </a:rPr>
            </a:br>
            <a:r>
              <a:rPr lang="en-US" dirty="0" smtClean="0">
                <a:latin typeface="+mn-lt"/>
              </a:rPr>
              <a:t>(OE00056)</a:t>
            </a:r>
            <a:endParaRPr dirty="0">
              <a:latin typeface="+mn-lt"/>
            </a:endParaRPr>
          </a:p>
        </p:txBody>
      </p:sp>
      <p:sp>
        <p:nvSpPr>
          <p:cNvPr id="129" name="Google Shape;129;p16"/>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3600"/>
              <a:buNone/>
            </a:pPr>
            <a:r>
              <a:rPr lang="en-US" dirty="0" smtClean="0">
                <a:latin typeface="+mn-lt"/>
              </a:rPr>
              <a:t>UNIT-I</a:t>
            </a:r>
            <a:endParaRPr dirty="0">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Text Placeholder 2"/>
          <p:cNvSpPr>
            <a:spLocks noGrp="1"/>
          </p:cNvSpPr>
          <p:nvPr>
            <p:ph type="body" idx="1"/>
          </p:nvPr>
        </p:nvSpPr>
        <p:spPr/>
        <p:txBody>
          <a:bodyPr/>
          <a:lstStyle/>
          <a:p>
            <a:pPr marL="114300" indent="0">
              <a:buNone/>
            </a:pP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
        <p:nvSpPr>
          <p:cNvPr id="16" name="Rectangle 9"/>
          <p:cNvSpPr>
            <a:spLocks noChangeArrowheads="1"/>
          </p:cNvSpPr>
          <p:nvPr/>
        </p:nvSpPr>
        <p:spPr bwMode="auto">
          <a:xfrm>
            <a:off x="2271714" y="3360738"/>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1"/>
          <p:cNvSpPr>
            <a:spLocks noChangeArrowheads="1"/>
          </p:cNvSpPr>
          <p:nvPr/>
        </p:nvSpPr>
        <p:spPr bwMode="auto">
          <a:xfrm>
            <a:off x="2271714" y="3367088"/>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9" name="Rectangle 12"/>
          <p:cNvSpPr>
            <a:spLocks noChangeArrowheads="1"/>
          </p:cNvSpPr>
          <p:nvPr/>
        </p:nvSpPr>
        <p:spPr bwMode="auto">
          <a:xfrm>
            <a:off x="2271714" y="3817940"/>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13"/>
          <p:cNvSpPr>
            <a:spLocks noChangeArrowheads="1"/>
          </p:cNvSpPr>
          <p:nvPr/>
        </p:nvSpPr>
        <p:spPr bwMode="auto">
          <a:xfrm>
            <a:off x="2271713" y="3367090"/>
            <a:ext cx="227948"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200" b="1" i="0" u="none" strike="noStrike" cap="none" normalizeH="0" baseline="0" smtClean="0">
                <a:ln>
                  <a:noFill/>
                </a:ln>
                <a:solidFill>
                  <a:schemeClr val="tx1"/>
                </a:solidFill>
                <a:effectLst/>
                <a:latin typeface="Arial" pitchFamily="34" charset="0"/>
                <a:ea typeface="Times New Roman" pitchFamily="18" charset="0"/>
                <a:cs typeface="Arial" pitchFamily="34" charset="0"/>
              </a:rPr>
              <a:t> </a:t>
            </a:r>
            <a:endParaRPr kumimoji="0" lang="en-GB"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1" name="Table 20"/>
          <p:cNvGraphicFramePr>
            <a:graphicFrameLocks noGrp="1"/>
          </p:cNvGraphicFramePr>
          <p:nvPr>
            <p:extLst>
              <p:ext uri="{D42A27DB-BD31-4B8C-83A1-F6EECF244321}">
                <p14:modId xmlns:p14="http://schemas.microsoft.com/office/powerpoint/2010/main" xmlns="" val="105257308"/>
              </p:ext>
            </p:extLst>
          </p:nvPr>
        </p:nvGraphicFramePr>
        <p:xfrm>
          <a:off x="1119469" y="2407024"/>
          <a:ext cx="6868086" cy="2184186"/>
        </p:xfrm>
        <a:graphic>
          <a:graphicData uri="http://schemas.openxmlformats.org/drawingml/2006/table">
            <a:tbl>
              <a:tblPr/>
              <a:tblGrid>
                <a:gridCol w="637751"/>
                <a:gridCol w="6230335"/>
              </a:tblGrid>
              <a:tr h="538266">
                <a:tc>
                  <a:txBody>
                    <a:bodyPr/>
                    <a:lstStyle/>
                    <a:p>
                      <a:pPr marL="0" marR="0" indent="-1270">
                        <a:spcBef>
                          <a:spcPts val="0"/>
                        </a:spcBef>
                        <a:spcAft>
                          <a:spcPts val="0"/>
                        </a:spcAft>
                      </a:pPr>
                      <a:r>
                        <a:rPr lang="en-GB" sz="1800" b="1" dirty="0" smtClean="0">
                          <a:effectLst/>
                          <a:latin typeface="Times New Roman" pitchFamily="18" charset="0"/>
                          <a:ea typeface="Times New Roman"/>
                          <a:cs typeface="Times New Roman" pitchFamily="18" charset="0"/>
                        </a:rPr>
                        <a:t>CO</a:t>
                      </a:r>
                      <a:r>
                        <a:rPr lang="en-GB" sz="1800" b="1" baseline="-25000" dirty="0" smtClean="0">
                          <a:effectLst/>
                          <a:latin typeface="Times New Roman" pitchFamily="18" charset="0"/>
                          <a:ea typeface="Times New Roman"/>
                          <a:cs typeface="Times New Roman" pitchFamily="18" charset="0"/>
                        </a:rPr>
                        <a:t>01</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270">
                        <a:spcBef>
                          <a:spcPts val="0"/>
                        </a:spcBef>
                        <a:spcAft>
                          <a:spcPts val="0"/>
                        </a:spcAft>
                      </a:pPr>
                      <a:r>
                        <a:rPr lang="en-US" sz="1800" b="0" i="0" u="none" strike="noStrike" cap="none" dirty="0" smtClean="0">
                          <a:solidFill>
                            <a:schemeClr val="tx1"/>
                          </a:solidFill>
                          <a:latin typeface="Times New Roman" pitchFamily="18" charset="0"/>
                          <a:ea typeface="+mn-ea"/>
                          <a:cs typeface="Times New Roman" pitchFamily="18" charset="0"/>
                          <a:sym typeface="Arial"/>
                        </a:rPr>
                        <a:t>Define and explain key cyber security concepts and principles.</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8266">
                <a:tc>
                  <a:txBody>
                    <a:bodyPr/>
                    <a:lstStyle/>
                    <a:p>
                      <a:pPr marL="0" marR="0" indent="-1270">
                        <a:spcBef>
                          <a:spcPts val="0"/>
                        </a:spcBef>
                        <a:spcAft>
                          <a:spcPts val="0"/>
                        </a:spcAft>
                      </a:pPr>
                      <a:r>
                        <a:rPr lang="en-GB" sz="1800" b="1" dirty="0" smtClean="0">
                          <a:effectLst/>
                          <a:latin typeface="Times New Roman" pitchFamily="18" charset="0"/>
                          <a:ea typeface="Times New Roman"/>
                          <a:cs typeface="Times New Roman" pitchFamily="18" charset="0"/>
                        </a:rPr>
                        <a:t>CO</a:t>
                      </a:r>
                      <a:r>
                        <a:rPr lang="en-GB" sz="1800" b="1" baseline="-25000" dirty="0" smtClean="0">
                          <a:effectLst/>
                          <a:latin typeface="Times New Roman" pitchFamily="18" charset="0"/>
                          <a:ea typeface="Times New Roman"/>
                          <a:cs typeface="Times New Roman" pitchFamily="18" charset="0"/>
                        </a:rPr>
                        <a:t>02</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270">
                        <a:spcBef>
                          <a:spcPts val="0"/>
                        </a:spcBef>
                        <a:spcAft>
                          <a:spcPts val="0"/>
                        </a:spcAft>
                      </a:pPr>
                      <a:r>
                        <a:rPr lang="en-US" sz="1800" b="0" i="0" u="none" strike="noStrike" cap="none" dirty="0" smtClean="0">
                          <a:solidFill>
                            <a:schemeClr val="tx1"/>
                          </a:solidFill>
                          <a:latin typeface="Times New Roman" pitchFamily="18" charset="0"/>
                          <a:ea typeface="+mn-ea"/>
                          <a:cs typeface="Times New Roman" pitchFamily="18" charset="0"/>
                          <a:sym typeface="Arial"/>
                        </a:rPr>
                        <a:t>Analyze network security mechanisms and evaluate their effectiveness.</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8266">
                <a:tc>
                  <a:txBody>
                    <a:bodyPr/>
                    <a:lstStyle/>
                    <a:p>
                      <a:pPr marL="0" marR="0" indent="-1270">
                        <a:spcBef>
                          <a:spcPts val="0"/>
                        </a:spcBef>
                        <a:spcAft>
                          <a:spcPts val="0"/>
                        </a:spcAft>
                      </a:pPr>
                      <a:r>
                        <a:rPr lang="en-GB" sz="1800" b="1" dirty="0" smtClean="0">
                          <a:effectLst/>
                          <a:latin typeface="Times New Roman" pitchFamily="18" charset="0"/>
                          <a:ea typeface="Times New Roman"/>
                          <a:cs typeface="Times New Roman" pitchFamily="18" charset="0"/>
                        </a:rPr>
                        <a:t>CO</a:t>
                      </a:r>
                      <a:r>
                        <a:rPr lang="en-GB" sz="1800" b="1" baseline="-25000" dirty="0" smtClean="0">
                          <a:effectLst/>
                          <a:latin typeface="Times New Roman" pitchFamily="18" charset="0"/>
                          <a:ea typeface="Times New Roman"/>
                          <a:cs typeface="Times New Roman" pitchFamily="18" charset="0"/>
                        </a:rPr>
                        <a:t>03</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270">
                        <a:spcBef>
                          <a:spcPts val="0"/>
                        </a:spcBef>
                        <a:spcAft>
                          <a:spcPts val="0"/>
                        </a:spcAft>
                      </a:pPr>
                      <a:r>
                        <a:rPr lang="en-US" sz="1800" b="0" i="0" u="none" strike="noStrike" cap="none" dirty="0" smtClean="0">
                          <a:solidFill>
                            <a:schemeClr val="tx1"/>
                          </a:solidFill>
                          <a:latin typeface="Times New Roman" pitchFamily="18" charset="0"/>
                          <a:ea typeface="+mn-ea"/>
                          <a:cs typeface="Times New Roman" pitchFamily="18" charset="0"/>
                          <a:sym typeface="Arial"/>
                        </a:rPr>
                        <a:t>Apply cryptographic techniques to secure data and communications.</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8266">
                <a:tc>
                  <a:txBody>
                    <a:bodyPr/>
                    <a:lstStyle/>
                    <a:p>
                      <a:pPr marL="0" marR="0" indent="-1270">
                        <a:spcBef>
                          <a:spcPts val="0"/>
                        </a:spcBef>
                        <a:spcAft>
                          <a:spcPts val="0"/>
                        </a:spcAft>
                      </a:pPr>
                      <a:r>
                        <a:rPr lang="en-GB" sz="1800" b="1" dirty="0" smtClean="0">
                          <a:effectLst/>
                          <a:latin typeface="Times New Roman" pitchFamily="18" charset="0"/>
                          <a:ea typeface="Times New Roman"/>
                          <a:cs typeface="Times New Roman" pitchFamily="18" charset="0"/>
                        </a:rPr>
                        <a:t>CO</a:t>
                      </a:r>
                      <a:r>
                        <a:rPr lang="en-GB" sz="1800" b="1" baseline="-25000" dirty="0" smtClean="0">
                          <a:effectLst/>
                          <a:latin typeface="Times New Roman" pitchFamily="18" charset="0"/>
                          <a:ea typeface="Times New Roman"/>
                          <a:cs typeface="Times New Roman" pitchFamily="18" charset="0"/>
                        </a:rPr>
                        <a:t>04</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270">
                        <a:spcBef>
                          <a:spcPts val="0"/>
                        </a:spcBef>
                        <a:spcAft>
                          <a:spcPts val="0"/>
                        </a:spcAft>
                      </a:pPr>
                      <a:r>
                        <a:rPr lang="en-US" sz="1800" b="0" i="0" u="none" strike="noStrike" cap="none" dirty="0" smtClean="0">
                          <a:solidFill>
                            <a:schemeClr val="tx1"/>
                          </a:solidFill>
                          <a:latin typeface="Times New Roman" pitchFamily="18" charset="0"/>
                          <a:ea typeface="+mn-ea"/>
                          <a:cs typeface="Times New Roman" pitchFamily="18" charset="0"/>
                          <a:sym typeface="Arial"/>
                        </a:rPr>
                        <a:t>Evaluate identity and access management (IAM) systems and practices.</a:t>
                      </a:r>
                      <a:endParaRPr lang="en-US" sz="1800" dirty="0">
                        <a:effectLst/>
                        <a:latin typeface="Times New Roman" pitchFamily="18" charset="0"/>
                        <a:ea typeface="Times New Roman"/>
                        <a:cs typeface="Times New Roman" pitchFamily="18" charset="0"/>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33690561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0"/>
          <p:cNvSpPr txBox="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2"/>
              </a:buClr>
              <a:buSzPts val="1200"/>
              <a:buFont typeface="Times New Roman"/>
              <a:buNone/>
            </a:pPr>
            <a:r>
              <a:rPr lang="en-US" sz="1200" b="0" i="1" u="none" strike="noStrike" cap="none">
                <a:solidFill>
                  <a:schemeClr val="lt2"/>
                </a:solidFill>
                <a:latin typeface="Times New Roman"/>
                <a:ea typeface="Times New Roman"/>
                <a:cs typeface="Times New Roman"/>
                <a:sym typeface="Times New Roman"/>
              </a:rPr>
              <a:t>Introduction to NLP </a:t>
            </a:r>
            <a:endParaRPr/>
          </a:p>
        </p:txBody>
      </p:sp>
      <p:sp>
        <p:nvSpPr>
          <p:cNvPr id="135" name="Google Shape;135;p20"/>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2"/>
              </a:buClr>
              <a:buSzPts val="1200"/>
              <a:buFont typeface="Times New Roman"/>
              <a:buNone/>
            </a:pPr>
            <a:fld id="{00000000-1234-1234-1234-123412341234}" type="slidenum">
              <a:rPr lang="en-US" sz="1200" b="0" i="1" u="none" strike="noStrike" cap="none">
                <a:solidFill>
                  <a:schemeClr val="lt2"/>
                </a:solidFill>
                <a:latin typeface="Times New Roman"/>
                <a:ea typeface="Times New Roman"/>
                <a:cs typeface="Times New Roman"/>
                <a:sym typeface="Times New Roman"/>
              </a:rPr>
              <a:pPr marL="0" marR="0" lvl="0" indent="0" algn="r" rtl="0">
                <a:lnSpc>
                  <a:spcPct val="100000"/>
                </a:lnSpc>
                <a:spcBef>
                  <a:spcPts val="0"/>
                </a:spcBef>
                <a:spcAft>
                  <a:spcPts val="0"/>
                </a:spcAft>
                <a:buClr>
                  <a:schemeClr val="lt2"/>
                </a:buClr>
                <a:buSzPts val="1200"/>
                <a:buFont typeface="Times New Roman"/>
                <a:buNone/>
              </a:pPr>
              <a:t>3</a:t>
            </a:fld>
            <a:endParaRPr/>
          </a:p>
        </p:txBody>
      </p:sp>
      <p:sp>
        <p:nvSpPr>
          <p:cNvPr id="136" name="Google Shape;136;p2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92929"/>
              </a:buClr>
              <a:buSzPts val="3600"/>
              <a:buFont typeface="Times New Roman"/>
              <a:buNone/>
            </a:pPr>
            <a:r>
              <a:rPr lang="en-US" sz="3600" b="1" i="1" u="none" dirty="0">
                <a:solidFill>
                  <a:srgbClr val="292929"/>
                </a:solidFill>
                <a:latin typeface="Times New Roman"/>
                <a:ea typeface="Times New Roman"/>
                <a:cs typeface="Times New Roman"/>
                <a:sym typeface="Times New Roman"/>
              </a:rPr>
              <a:t>Scope</a:t>
            </a:r>
            <a:endParaRPr dirty="0"/>
          </a:p>
        </p:txBody>
      </p:sp>
      <p:sp>
        <p:nvSpPr>
          <p:cNvPr id="137" name="Google Shape;137;p2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algn="just">
              <a:lnSpc>
                <a:spcPct val="100000"/>
              </a:lnSpc>
              <a:spcBef>
                <a:spcPts val="0"/>
              </a:spcBef>
              <a:buFont typeface="Times New Roman"/>
              <a:buChar char="•"/>
            </a:pPr>
            <a:r>
              <a:rPr lang="en-US" sz="2000" b="1" dirty="0" smtClean="0">
                <a:latin typeface="Times New Roman" pitchFamily="18" charset="0"/>
                <a:cs typeface="Times New Roman" pitchFamily="18" charset="0"/>
              </a:rPr>
              <a:t>Cloud security </a:t>
            </a:r>
            <a:r>
              <a:rPr lang="en-US" sz="2000" dirty="0" smtClean="0">
                <a:latin typeface="Times New Roman" pitchFamily="18" charset="0"/>
                <a:cs typeface="Times New Roman" pitchFamily="18" charset="0"/>
              </a:rPr>
              <a:t>is a discipline of cyber security dedicated to securing cloud computing systems. This includes keeping data private and safe across online-based infrastructure, applications, and platforms. Securing these systems involves the efforts of cloud providers and the clients that use them, whether an individual, small to medium business, or enterprise uses.</a:t>
            </a:r>
            <a:endParaRPr sz="2000" dirty="0">
              <a:latin typeface="Times New Roman" pitchFamily="18" charset="0"/>
              <a:cs typeface="Times New Roman" pitchFamily="18" charset="0"/>
            </a:endParaRPr>
          </a:p>
        </p:txBody>
      </p:sp>
      <p:sp>
        <p:nvSpPr>
          <p:cNvPr id="8" name="Text Placeholder 7"/>
          <p:cNvSpPr>
            <a:spLocks noGrp="1"/>
          </p:cNvSpPr>
          <p:nvPr>
            <p:ph type="body" idx="2"/>
          </p:nvPr>
        </p:nvSpPr>
        <p:spPr/>
        <p:txBody>
          <a:bodyPr/>
          <a:lstStyle/>
          <a:p>
            <a:pPr>
              <a:buNone/>
            </a:pPr>
            <a:endParaRPr lang="en-US" dirty="0"/>
          </a:p>
        </p:txBody>
      </p:sp>
      <p:pic>
        <p:nvPicPr>
          <p:cNvPr id="9" name="Picture 2" descr="What is Cloud Security?"/>
          <p:cNvPicPr>
            <a:picLocks noChangeAspect="1" noChangeArrowheads="1"/>
          </p:cNvPicPr>
          <p:nvPr/>
        </p:nvPicPr>
        <p:blipFill>
          <a:blip r:embed="rId3"/>
          <a:srcRect/>
          <a:stretch>
            <a:fillRect/>
          </a:stretch>
        </p:blipFill>
        <p:spPr bwMode="auto">
          <a:xfrm>
            <a:off x="4654307" y="2003612"/>
            <a:ext cx="3836867" cy="4114800"/>
          </a:xfrm>
          <a:prstGeom prst="rect">
            <a:avLst/>
          </a:prstGeom>
          <a:noFill/>
        </p:spPr>
      </p:pic>
    </p:spTree>
    <p:extLst>
      <p:ext uri="{BB962C8B-B14F-4D97-AF65-F5344CB8AC3E}">
        <p14:creationId xmlns:p14="http://schemas.microsoft.com/office/powerpoint/2010/main" xmlns="" val="761777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825" y="440787"/>
            <a:ext cx="7479926" cy="654424"/>
          </a:xfrm>
        </p:spPr>
        <p:txBody>
          <a:bodyPr/>
          <a:lstStyle/>
          <a:p>
            <a:r>
              <a:rPr lang="en-US" sz="2200" dirty="0" smtClean="0">
                <a:latin typeface="Times New Roman" pitchFamily="18" charset="0"/>
                <a:cs typeface="Times New Roman" pitchFamily="18" charset="0"/>
              </a:rPr>
              <a:t>SYLLABUS</a:t>
            </a:r>
            <a:endParaRPr lang="en-US" sz="22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
        <p:nvSpPr>
          <p:cNvPr id="6" name="Rectangle 5"/>
          <p:cNvSpPr/>
          <p:nvPr/>
        </p:nvSpPr>
        <p:spPr>
          <a:xfrm>
            <a:off x="899919" y="1055079"/>
            <a:ext cx="7298030" cy="7848302"/>
          </a:xfrm>
          <a:prstGeom prst="rect">
            <a:avLst/>
          </a:prstGeom>
        </p:spPr>
        <p:txBody>
          <a:bodyPr wrap="square">
            <a:spAutoFit/>
          </a:bodyPr>
          <a:lstStyle/>
          <a:p>
            <a:r>
              <a:rPr lang="en-GB" sz="1200" dirty="0">
                <a:latin typeface="+mj-lt"/>
              </a:rPr>
              <a:t>Unit-1: </a:t>
            </a:r>
            <a:r>
              <a:rPr lang="en-GB" sz="1200" dirty="0" smtClean="0">
                <a:latin typeface="+mj-lt"/>
              </a:rPr>
              <a:t>Security Concepts</a:t>
            </a:r>
            <a:endParaRPr lang="en-US" sz="1200" dirty="0">
              <a:latin typeface="+mj-lt"/>
            </a:endParaRPr>
          </a:p>
          <a:p>
            <a:pPr algn="just"/>
            <a:r>
              <a:rPr lang="en-GB" sz="1200" dirty="0" smtClean="0">
                <a:latin typeface="+mj-lt"/>
              </a:rPr>
              <a:t>Introduction of security, confidentiality  authentication, access control </a:t>
            </a:r>
            <a:r>
              <a:rPr lang="en-GB" sz="1200" dirty="0" err="1" smtClean="0">
                <a:latin typeface="+mj-lt"/>
              </a:rPr>
              <a:t>paas</a:t>
            </a:r>
            <a:r>
              <a:rPr lang="en-GB" sz="1200" dirty="0" smtClean="0">
                <a:latin typeface="+mj-lt"/>
              </a:rPr>
              <a:t>, </a:t>
            </a:r>
            <a:r>
              <a:rPr lang="en-GB" sz="1200" dirty="0" err="1" smtClean="0">
                <a:latin typeface="+mj-lt"/>
              </a:rPr>
              <a:t>saas</a:t>
            </a:r>
            <a:r>
              <a:rPr lang="en-GB" sz="1200" dirty="0" smtClean="0">
                <a:latin typeface="+mj-lt"/>
              </a:rPr>
              <a:t>, </a:t>
            </a:r>
            <a:r>
              <a:rPr lang="en-GB" sz="1200" dirty="0" err="1" smtClean="0">
                <a:latin typeface="+mj-lt"/>
              </a:rPr>
              <a:t>iaas</a:t>
            </a:r>
            <a:r>
              <a:rPr lang="en-GB" sz="1200" dirty="0" smtClean="0">
                <a:latin typeface="+mj-lt"/>
              </a:rPr>
              <a:t> concept in cloud security User authentication in the cloud, Cryptographic Systems User authentication in the cloud, Cryptographic Systems Symmetric cryptography stream ciphers block ciphers modes of operation public-key cryptography hashing, digital signatures</a:t>
            </a:r>
            <a:endParaRPr lang="en-US" sz="1200" dirty="0">
              <a:latin typeface="+mj-lt"/>
            </a:endParaRPr>
          </a:p>
          <a:p>
            <a:r>
              <a:rPr lang="en-GB" sz="1200" dirty="0">
                <a:latin typeface="+mj-lt"/>
              </a:rPr>
              <a:t> </a:t>
            </a:r>
            <a:endParaRPr lang="en-US" sz="1200" dirty="0">
              <a:latin typeface="+mj-lt"/>
            </a:endParaRPr>
          </a:p>
          <a:p>
            <a:r>
              <a:rPr lang="en-GB" sz="1200" dirty="0">
                <a:latin typeface="+mj-lt"/>
              </a:rPr>
              <a:t>Unit-2: </a:t>
            </a:r>
            <a:r>
              <a:rPr lang="en-US" sz="1200" dirty="0" smtClean="0"/>
              <a:t>Security Fundamentals and Risk Issues in the Cloud </a:t>
            </a:r>
            <a:endParaRPr lang="en-US" sz="1200" dirty="0">
              <a:latin typeface="+mj-lt"/>
            </a:endParaRPr>
          </a:p>
          <a:p>
            <a:pPr algn="just"/>
            <a:r>
              <a:rPr lang="en-US" sz="1200" dirty="0" smtClean="0"/>
              <a:t>Cloud Information Security Objectives, Cloud Security services Cloud Security Design Principles Secure Cloud Software Requirements, Security Policy Implementation and decomposition  Cloud Computing and Business Continuity/Disaster Recovery CIA triad, Privacy and compliance risk, Infrastructure Security The Network Level, Infrastructure Security: The Host Level, The Application Level. Data Security and Storage: Aspects of Data Security, Data Security Mitigation, Provider Data and Its Security. </a:t>
            </a:r>
          </a:p>
          <a:p>
            <a:endParaRPr lang="en-US" sz="1200" dirty="0" smtClean="0">
              <a:latin typeface="+mj-lt"/>
            </a:endParaRPr>
          </a:p>
          <a:p>
            <a:r>
              <a:rPr lang="en-GB" sz="1200" dirty="0" smtClean="0">
                <a:latin typeface="+mj-lt"/>
              </a:rPr>
              <a:t>Unit-3</a:t>
            </a:r>
            <a:r>
              <a:rPr lang="en-GB" sz="1200" dirty="0">
                <a:latin typeface="+mj-lt"/>
              </a:rPr>
              <a:t>: </a:t>
            </a:r>
            <a:r>
              <a:rPr lang="en-US" sz="1200" dirty="0" smtClean="0"/>
              <a:t>Identity and Access Management </a:t>
            </a:r>
            <a:endParaRPr lang="en-US" sz="1200" dirty="0">
              <a:latin typeface="+mj-lt"/>
            </a:endParaRPr>
          </a:p>
          <a:p>
            <a:pPr algn="just"/>
            <a:r>
              <a:rPr lang="en-US" sz="1200" dirty="0" smtClean="0"/>
              <a:t>Introduction, Definitions, Trust Boundaries, Challenges Identity and Access Management Architecture and Practices Getting Ready for the Cloud Relevant IAM Standards and Protocols for Cloud Services Cloud Authorization Management Cloud Authorization Management Cloud Service Provider IAM Practice.</a:t>
            </a:r>
            <a:endParaRPr lang="en-US" sz="1200" dirty="0" smtClean="0">
              <a:latin typeface="+mj-lt"/>
            </a:endParaRPr>
          </a:p>
          <a:p>
            <a:endParaRPr lang="en-GB" sz="1200" dirty="0" smtClean="0">
              <a:latin typeface="+mj-lt"/>
            </a:endParaRPr>
          </a:p>
          <a:p>
            <a:r>
              <a:rPr lang="en-GB" sz="1200" dirty="0" smtClean="0">
                <a:latin typeface="+mj-lt"/>
              </a:rPr>
              <a:t>Unit-4</a:t>
            </a:r>
            <a:r>
              <a:rPr lang="en-GB" sz="1200" dirty="0">
                <a:latin typeface="+mj-lt"/>
              </a:rPr>
              <a:t>: </a:t>
            </a:r>
            <a:r>
              <a:rPr lang="en-US" sz="1200" dirty="0" smtClean="0"/>
              <a:t>Security Management in the Cloud </a:t>
            </a:r>
            <a:endParaRPr lang="en-US" sz="1200" dirty="0">
              <a:latin typeface="+mj-lt"/>
            </a:endParaRPr>
          </a:p>
          <a:p>
            <a:pPr algn="just"/>
            <a:r>
              <a:rPr lang="en-US" sz="1200" dirty="0" smtClean="0"/>
              <a:t>Security Management Standards Availability Management </a:t>
            </a:r>
            <a:r>
              <a:rPr lang="en-US" sz="1200" dirty="0" err="1" smtClean="0"/>
              <a:t>PaaS</a:t>
            </a:r>
            <a:r>
              <a:rPr lang="en-US" sz="1200" dirty="0" smtClean="0"/>
              <a:t>, Availability, Management </a:t>
            </a:r>
            <a:r>
              <a:rPr lang="en-US" sz="1200" dirty="0" err="1" smtClean="0"/>
              <a:t>SaaS</a:t>
            </a:r>
            <a:r>
              <a:rPr lang="en-US" sz="1200" dirty="0" smtClean="0"/>
              <a:t>, Availability, Management, </a:t>
            </a:r>
            <a:r>
              <a:rPr lang="en-US" sz="1200" dirty="0" err="1" smtClean="0"/>
              <a:t>IaaS</a:t>
            </a:r>
            <a:r>
              <a:rPr lang="en-US" sz="1200" dirty="0" smtClean="0"/>
              <a:t> Availability Management Access Control, Security Vulnerability Patch, and Configuration Management </a:t>
            </a:r>
          </a:p>
          <a:p>
            <a:endParaRPr lang="en-GB" sz="1200" dirty="0" smtClean="0">
              <a:latin typeface="+mj-lt"/>
            </a:endParaRPr>
          </a:p>
          <a:p>
            <a:r>
              <a:rPr lang="en-GB" sz="1200" dirty="0" smtClean="0">
                <a:latin typeface="+mj-lt"/>
              </a:rPr>
              <a:t>Unit-5</a:t>
            </a:r>
            <a:r>
              <a:rPr lang="en-GB" sz="1200" dirty="0">
                <a:latin typeface="+mj-lt"/>
              </a:rPr>
              <a:t>: </a:t>
            </a:r>
            <a:r>
              <a:rPr lang="en-US" sz="1200" dirty="0" smtClean="0"/>
              <a:t>Legal and Compliance Issues </a:t>
            </a:r>
            <a:endParaRPr lang="en-US" sz="1200" dirty="0">
              <a:latin typeface="+mj-lt"/>
            </a:endParaRPr>
          </a:p>
          <a:p>
            <a:pPr algn="just"/>
            <a:r>
              <a:rPr lang="en-US" sz="1200" dirty="0" smtClean="0"/>
              <a:t>Legal and Compliance Issues ,Responsibility ownership of data, right to penetration test local law where data is held examination of modern Security Standards (</a:t>
            </a:r>
            <a:r>
              <a:rPr lang="en-US" sz="1200" dirty="0" err="1" smtClean="0"/>
              <a:t>eg.PCIDSS</a:t>
            </a:r>
            <a:r>
              <a:rPr lang="en-US" sz="1200" dirty="0" smtClean="0"/>
              <a:t>) how standards deal with cloud services and virtualization, compliance for the cloud provider vs. compliance for the customer. </a:t>
            </a:r>
            <a:r>
              <a:rPr lang="en-GB" sz="1200" dirty="0">
                <a:latin typeface="+mj-lt"/>
              </a:rPr>
              <a:t> </a:t>
            </a:r>
            <a:endParaRPr lang="en-GB" sz="1200" dirty="0" smtClean="0">
              <a:latin typeface="+mj-lt"/>
            </a:endParaRPr>
          </a:p>
          <a:p>
            <a:pPr algn="just"/>
            <a:endParaRPr lang="en-GB" sz="1200" dirty="0" smtClean="0">
              <a:latin typeface="+mj-lt"/>
            </a:endParaRPr>
          </a:p>
          <a:p>
            <a:r>
              <a:rPr lang="en-US" sz="1200" b="1" dirty="0" smtClean="0"/>
              <a:t>Text Books </a:t>
            </a:r>
          </a:p>
          <a:p>
            <a:r>
              <a:rPr lang="en-US" sz="1200" dirty="0" smtClean="0"/>
              <a:t>Tim Mather, </a:t>
            </a:r>
            <a:r>
              <a:rPr lang="en-US" sz="1200" dirty="0" err="1" smtClean="0"/>
              <a:t>Subra</a:t>
            </a:r>
            <a:r>
              <a:rPr lang="en-US" sz="1200" dirty="0" smtClean="0"/>
              <a:t> </a:t>
            </a:r>
            <a:r>
              <a:rPr lang="en-US" sz="1200" dirty="0" err="1" smtClean="0"/>
              <a:t>Kumaraswamy</a:t>
            </a:r>
            <a:r>
              <a:rPr lang="en-US" sz="1200" dirty="0" smtClean="0"/>
              <a:t>, </a:t>
            </a:r>
            <a:r>
              <a:rPr lang="en-US" sz="1200" dirty="0" err="1" smtClean="0"/>
              <a:t>Shahed</a:t>
            </a:r>
            <a:r>
              <a:rPr lang="en-US" sz="1200" dirty="0" smtClean="0"/>
              <a:t> </a:t>
            </a:r>
            <a:r>
              <a:rPr lang="en-US" sz="1200" dirty="0" err="1" smtClean="0"/>
              <a:t>Latif</a:t>
            </a:r>
            <a:r>
              <a:rPr lang="en-US" sz="1200" dirty="0" smtClean="0"/>
              <a:t>, Cloud Security and Privacy, O’Reilly. </a:t>
            </a:r>
          </a:p>
          <a:p>
            <a:r>
              <a:rPr lang="en-US" sz="1200" dirty="0" err="1" smtClean="0"/>
              <a:t>Raghu</a:t>
            </a:r>
            <a:r>
              <a:rPr lang="en-US" sz="1200" dirty="0" smtClean="0"/>
              <a:t> </a:t>
            </a:r>
            <a:r>
              <a:rPr lang="en-US" sz="1200" dirty="0" err="1" smtClean="0"/>
              <a:t>Yeluri</a:t>
            </a:r>
            <a:r>
              <a:rPr lang="en-US" sz="1200" dirty="0" smtClean="0"/>
              <a:t>, Enrique Castro-Leon, Building the Infrastructure for Cloud Security A Solutions view, </a:t>
            </a:r>
            <a:r>
              <a:rPr lang="en-US" sz="1200" dirty="0" err="1" smtClean="0"/>
              <a:t>Apress</a:t>
            </a:r>
            <a:r>
              <a:rPr lang="en-US" sz="1200" dirty="0" smtClean="0"/>
              <a:t> open. </a:t>
            </a:r>
          </a:p>
          <a:p>
            <a:r>
              <a:rPr lang="en-US" sz="1200" dirty="0" smtClean="0"/>
              <a:t>Ronald L. </a:t>
            </a:r>
            <a:r>
              <a:rPr lang="en-US" sz="1200" dirty="0" err="1" smtClean="0"/>
              <a:t>Krutz</a:t>
            </a:r>
            <a:r>
              <a:rPr lang="en-US" sz="1200" dirty="0" smtClean="0"/>
              <a:t>, Russell Dean Vines, Cloud Security A Comprehensive Guide to Secure Cloud Computing, Wiley. </a:t>
            </a:r>
          </a:p>
          <a:p>
            <a:endParaRPr lang="en-US" sz="1200" dirty="0" smtClean="0"/>
          </a:p>
          <a:p>
            <a:r>
              <a:rPr lang="en-US" sz="1200" b="1" dirty="0" smtClean="0"/>
              <a:t>References </a:t>
            </a:r>
          </a:p>
          <a:p>
            <a:r>
              <a:rPr lang="en-US" sz="1200" dirty="0" smtClean="0"/>
              <a:t>John </a:t>
            </a:r>
            <a:r>
              <a:rPr lang="en-US" sz="1200" dirty="0" err="1" smtClean="0"/>
              <a:t>Rittinghouse</a:t>
            </a:r>
            <a:r>
              <a:rPr lang="en-US" sz="1200" dirty="0" smtClean="0"/>
              <a:t>, James </a:t>
            </a:r>
            <a:r>
              <a:rPr lang="en-US" sz="1200" dirty="0" err="1" smtClean="0"/>
              <a:t>Ransome</a:t>
            </a:r>
            <a:r>
              <a:rPr lang="en-US" sz="1200" dirty="0" smtClean="0"/>
              <a:t>, Cloud Computing, CRC Press. </a:t>
            </a:r>
          </a:p>
          <a:p>
            <a:r>
              <a:rPr lang="en-US" sz="1200" dirty="0" smtClean="0"/>
              <a:t>J.R. ("Vic") Winkler, Securing the Cloud, </a:t>
            </a:r>
            <a:r>
              <a:rPr lang="en-US" sz="1200" dirty="0" err="1" smtClean="0"/>
              <a:t>Syngress</a:t>
            </a:r>
            <a:r>
              <a:rPr lang="en-US" sz="1200" dirty="0" smtClean="0"/>
              <a:t>. </a:t>
            </a:r>
          </a:p>
          <a:p>
            <a:r>
              <a:rPr lang="en-US" sz="1200" dirty="0" smtClean="0"/>
              <a:t>Cloud Security Alliance, Security Guidance for Critical Areas of Focus in Cloud Computing. </a:t>
            </a:r>
          </a:p>
          <a:p>
            <a:r>
              <a:rPr lang="en-US" sz="1200" dirty="0" err="1" smtClean="0"/>
              <a:t>Vmware</a:t>
            </a:r>
            <a:r>
              <a:rPr lang="en-US" sz="1200" dirty="0" smtClean="0"/>
              <a:t>, VMware Security Hardening Guide, White Paper. </a:t>
            </a:r>
          </a:p>
          <a:p>
            <a:r>
              <a:rPr lang="en-US" sz="1200" dirty="0" smtClean="0"/>
              <a:t>Cloud Security Alliance 2010, Top Threats to Cloud Computing, Microsoft. </a:t>
            </a:r>
          </a:p>
          <a:p>
            <a:pPr algn="just"/>
            <a:endParaRPr lang="en-US" sz="1200" dirty="0">
              <a:latin typeface="+mj-lt"/>
            </a:endParaRPr>
          </a:p>
        </p:txBody>
      </p:sp>
    </p:spTree>
    <p:extLst>
      <p:ext uri="{BB962C8B-B14F-4D97-AF65-F5344CB8AC3E}">
        <p14:creationId xmlns:p14="http://schemas.microsoft.com/office/powerpoint/2010/main" xmlns="" val="12299636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1"/>
          <p:cNvSpPr txBox="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2"/>
              </a:buClr>
              <a:buSzPts val="1200"/>
              <a:buFont typeface="Times New Roman"/>
              <a:buNone/>
            </a:pPr>
            <a:r>
              <a:rPr lang="en-US" sz="1200" b="0" i="1" u="none" strike="noStrike" cap="none">
                <a:solidFill>
                  <a:schemeClr val="lt2"/>
                </a:solidFill>
                <a:latin typeface="Times New Roman"/>
                <a:ea typeface="Times New Roman"/>
                <a:cs typeface="Times New Roman"/>
                <a:sym typeface="Times New Roman"/>
              </a:rPr>
              <a:t>Introduction to NLP </a:t>
            </a:r>
            <a:endParaRPr/>
          </a:p>
        </p:txBody>
      </p:sp>
      <p:sp>
        <p:nvSpPr>
          <p:cNvPr id="144" name="Google Shape;144;p21"/>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2"/>
              </a:buClr>
              <a:buSzPts val="1200"/>
              <a:buFont typeface="Times New Roman"/>
              <a:buNone/>
            </a:pPr>
            <a:fld id="{00000000-1234-1234-1234-123412341234}" type="slidenum">
              <a:rPr lang="en-US" sz="1200" b="0" i="1" u="none" strike="noStrike" cap="none">
                <a:solidFill>
                  <a:schemeClr val="lt2"/>
                </a:solidFill>
                <a:latin typeface="Times New Roman"/>
                <a:ea typeface="Times New Roman"/>
                <a:cs typeface="Times New Roman"/>
                <a:sym typeface="Times New Roman"/>
              </a:rPr>
              <a:pPr marL="0" marR="0" lvl="0" indent="0" algn="r" rtl="0">
                <a:lnSpc>
                  <a:spcPct val="100000"/>
                </a:lnSpc>
                <a:spcBef>
                  <a:spcPts val="0"/>
                </a:spcBef>
                <a:spcAft>
                  <a:spcPts val="0"/>
                </a:spcAft>
                <a:buClr>
                  <a:schemeClr val="lt2"/>
                </a:buClr>
                <a:buSzPts val="1200"/>
                <a:buFont typeface="Times New Roman"/>
                <a:buNone/>
              </a:pPr>
              <a:t>5</a:t>
            </a:fld>
            <a:endParaRPr/>
          </a:p>
        </p:txBody>
      </p:sp>
      <p:sp>
        <p:nvSpPr>
          <p:cNvPr id="145" name="Google Shape;145;p2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lvl="0" algn="ctr">
              <a:lnSpc>
                <a:spcPct val="100000"/>
              </a:lnSpc>
              <a:buClr>
                <a:srgbClr val="292929"/>
              </a:buClr>
              <a:buSzPts val="3600"/>
            </a:pPr>
            <a:r>
              <a:rPr lang="en-US" sz="3600" dirty="0" smtClean="0">
                <a:latin typeface="Times New Roman" pitchFamily="18" charset="0"/>
                <a:cs typeface="Times New Roman" pitchFamily="18" charset="0"/>
              </a:rPr>
              <a:t>Authentication and Access control</a:t>
            </a:r>
            <a:endParaRPr>
              <a:latin typeface="Times New Roman" pitchFamily="18" charset="0"/>
              <a:cs typeface="Times New Roman" pitchFamily="18" charset="0"/>
            </a:endParaRPr>
          </a:p>
        </p:txBody>
      </p:sp>
      <p:sp>
        <p:nvSpPr>
          <p:cNvPr id="146" name="Google Shape;146;p2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algn="just" fontAlgn="ctr"/>
            <a:r>
              <a:rPr lang="en-US" dirty="0" smtClean="0">
                <a:latin typeface="Times New Roman" pitchFamily="18" charset="0"/>
                <a:cs typeface="Times New Roman" pitchFamily="18" charset="0"/>
              </a:rPr>
              <a:t>Access Control defines the rules and policies that determine which users or systems have access to specific resources and what actions they can perform. It answers the question, "What are you allowed to do?" Common access control methods include: </a:t>
            </a:r>
            <a:endParaRPr lang="en-US" dirty="0" smtClean="0">
              <a:latin typeface="Times New Roman" pitchFamily="18" charset="0"/>
              <a:ea typeface="Times New Roman"/>
              <a:cs typeface="Times New Roman" pitchFamily="18" charset="0"/>
              <a:sym typeface="Times New Roman"/>
            </a:endParaRPr>
          </a:p>
        </p:txBody>
      </p:sp>
    </p:spTree>
    <p:extLst>
      <p:ext uri="{BB962C8B-B14F-4D97-AF65-F5344CB8AC3E}">
        <p14:creationId xmlns:p14="http://schemas.microsoft.com/office/powerpoint/2010/main" xmlns="" val="7638016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itchFamily="18" charset="0"/>
                <a:cs typeface="Times New Roman" pitchFamily="18" charset="0"/>
              </a:rPr>
              <a:t>Authentication</a:t>
            </a:r>
            <a:endParaRPr lang="en-US" dirty="0"/>
          </a:p>
        </p:txBody>
      </p:sp>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pic>
        <p:nvPicPr>
          <p:cNvPr id="37890" name="Picture 2" descr="Authentication System Design: 6 Best Practices | Toptal®"/>
          <p:cNvPicPr>
            <a:picLocks noChangeAspect="1" noChangeArrowheads="1"/>
          </p:cNvPicPr>
          <p:nvPr/>
        </p:nvPicPr>
        <p:blipFill>
          <a:blip r:embed="rId2"/>
          <a:srcRect/>
          <a:stretch>
            <a:fillRect/>
          </a:stretch>
        </p:blipFill>
        <p:spPr bwMode="auto">
          <a:xfrm>
            <a:off x="857224" y="1928802"/>
            <a:ext cx="7649572" cy="4000504"/>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a:buNone/>
            </a:pP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pic>
        <p:nvPicPr>
          <p:cNvPr id="1026" name="Picture 2" descr="What is RBAC (Role Based Access Control)? Meaning, Examples"/>
          <p:cNvPicPr>
            <a:picLocks noChangeAspect="1" noChangeArrowheads="1"/>
          </p:cNvPicPr>
          <p:nvPr/>
        </p:nvPicPr>
        <p:blipFill>
          <a:blip r:embed="rId2"/>
          <a:srcRect/>
          <a:stretch>
            <a:fillRect/>
          </a:stretch>
        </p:blipFill>
        <p:spPr bwMode="auto">
          <a:xfrm>
            <a:off x="714348" y="1643050"/>
            <a:ext cx="7620000" cy="45720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normAutofit fontScale="92500" lnSpcReduction="10000"/>
          </a:bodyPr>
          <a:lstStyle/>
          <a:p>
            <a:pPr algn="just" fontAlgn="ctr"/>
            <a:r>
              <a:rPr lang="en-US" b="1" dirty="0" smtClean="0">
                <a:latin typeface="Times New Roman" pitchFamily="18" charset="0"/>
                <a:cs typeface="Times New Roman" pitchFamily="18" charset="0"/>
                <a:hlinkClick r:id="rId2"/>
              </a:rPr>
              <a:t>Role-Based </a:t>
            </a:r>
            <a:r>
              <a:rPr lang="en-US" b="1" dirty="0" smtClean="0">
                <a:latin typeface="Times New Roman" pitchFamily="18" charset="0"/>
                <a:cs typeface="Times New Roman" pitchFamily="18" charset="0"/>
                <a:hlinkClick r:id="rId2"/>
              </a:rPr>
              <a:t>Access Control (RBAC)</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Users are assigned roles, and access is granted based on those roles. </a:t>
            </a:r>
          </a:p>
          <a:p>
            <a:pPr algn="just" fontAlgn="ctr"/>
            <a:r>
              <a:rPr lang="en-US" b="1" dirty="0" smtClean="0">
                <a:latin typeface="Times New Roman" pitchFamily="18" charset="0"/>
                <a:cs typeface="Times New Roman" pitchFamily="18" charset="0"/>
                <a:hlinkClick r:id="rId3"/>
              </a:rPr>
              <a:t>Attribute-Based Access Control (ABAC)</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Access is determined by attributes of the user, resource, and environment. </a:t>
            </a:r>
          </a:p>
          <a:p>
            <a:pPr algn="just" fontAlgn="ctr"/>
            <a:r>
              <a:rPr lang="en-US" b="1" dirty="0" smtClean="0">
                <a:latin typeface="Times New Roman" pitchFamily="18" charset="0"/>
                <a:cs typeface="Times New Roman" pitchFamily="18" charset="0"/>
                <a:hlinkClick r:id="rId4"/>
              </a:rPr>
              <a:t>Mandatory Access Control (MAC)</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Access is controlled by a central authority, often based on security classifications. </a:t>
            </a:r>
          </a:p>
          <a:p>
            <a:pPr algn="just"/>
            <a:r>
              <a:rPr lang="en-US" b="1" dirty="0" smtClean="0">
                <a:latin typeface="Times New Roman" pitchFamily="18" charset="0"/>
                <a:cs typeface="Times New Roman" pitchFamily="18" charset="0"/>
                <a:hlinkClick r:id="rId5"/>
              </a:rPr>
              <a:t>Discretionary Access Control (DAC)</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Users can manage access permissions for their own resources. </a:t>
            </a:r>
          </a:p>
          <a:p>
            <a:pPr marL="342900" lvl="0" algn="just">
              <a:lnSpc>
                <a:spcPct val="100000"/>
              </a:lnSpc>
              <a:spcBef>
                <a:spcPts val="0"/>
              </a:spcBef>
              <a:buFont typeface="Times New Roman"/>
              <a:buChar char="•"/>
            </a:pPr>
            <a:endParaRPr lang="en-US" dirty="0" smtClean="0">
              <a:latin typeface="Times New Roman" pitchFamily="18" charset="0"/>
              <a:ea typeface="Times New Roman"/>
              <a:cs typeface="Times New Roman" pitchFamily="18" charset="0"/>
              <a:sym typeface="Times New Roman"/>
            </a:endParaRP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itchFamily="18" charset="0"/>
                <a:cs typeface="Times New Roman" pitchFamily="18" charset="0"/>
              </a:rPr>
              <a:t>Availability</a:t>
            </a:r>
            <a:endParaRPr lang="en-US" dirty="0"/>
          </a:p>
        </p:txBody>
      </p:sp>
      <p:sp>
        <p:nvSpPr>
          <p:cNvPr id="3" name="Text Placeholder 2"/>
          <p:cNvSpPr>
            <a:spLocks noGrp="1"/>
          </p:cNvSpPr>
          <p:nvPr>
            <p:ph type="body" idx="1"/>
          </p:nvPr>
        </p:nvSpPr>
        <p:spPr/>
        <p:txBody>
          <a:bodyPr/>
          <a:lstStyle/>
          <a:p>
            <a:pPr algn="just"/>
            <a:r>
              <a:rPr lang="en-US" dirty="0" smtClean="0">
                <a:latin typeface="Times New Roman" pitchFamily="18" charset="0"/>
                <a:cs typeface="Times New Roman" pitchFamily="18" charset="0"/>
              </a:rPr>
              <a:t>Availability - High availability is the ultimate goal of moving to the cloud. The idea is to make your products, services, and tools available to your customers and employees at any time from anywhere using any device with an internet connection.</a:t>
            </a:r>
          </a:p>
          <a:p>
            <a:pPr algn="just"/>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itchFamily="18" charset="0"/>
                <a:cs typeface="Times New Roman" pitchFamily="18" charset="0"/>
              </a:rPr>
              <a:t>Defense in depth</a:t>
            </a:r>
            <a:endParaRPr lang="en-US" dirty="0">
              <a:latin typeface="Times New Roman" pitchFamily="18" charset="0"/>
              <a:cs typeface="Times New Roman" pitchFamily="18" charset="0"/>
            </a:endParaRPr>
          </a:p>
        </p:txBody>
      </p:sp>
      <p:sp>
        <p:nvSpPr>
          <p:cNvPr id="3" name="Text Placeholder 2"/>
          <p:cNvSpPr>
            <a:spLocks noGrp="1"/>
          </p:cNvSpPr>
          <p:nvPr>
            <p:ph type="body" idx="1"/>
          </p:nvPr>
        </p:nvSpPr>
        <p:spPr>
          <a:xfrm>
            <a:off x="642910" y="1571612"/>
            <a:ext cx="7886700" cy="4351338"/>
          </a:xfrm>
        </p:spPr>
        <p:txBody>
          <a:bodyPr>
            <a:normAutofit fontScale="25000" lnSpcReduction="20000"/>
          </a:bodyPr>
          <a:lstStyle/>
          <a:p>
            <a:pPr algn="just">
              <a:lnSpc>
                <a:spcPct val="170000"/>
              </a:lnSpc>
              <a:buNone/>
            </a:pPr>
            <a:r>
              <a:rPr lang="en-US" dirty="0" smtClean="0"/>
              <a:t>	</a:t>
            </a:r>
            <a:r>
              <a:rPr lang="en-US" sz="7200" dirty="0" smtClean="0">
                <a:latin typeface="Times New Roman" pitchFamily="18" charset="0"/>
                <a:cs typeface="Times New Roman" pitchFamily="18" charset="0"/>
              </a:rPr>
              <a:t>Cloud security is a shared responsibility between you and your cloud provider. To develop a cloud security strategy that will protect your organization, it's important that you understand where the provider stops and where your responsibility begins.</a:t>
            </a:r>
          </a:p>
          <a:p>
            <a:pPr>
              <a:lnSpc>
                <a:spcPct val="170000"/>
              </a:lnSpc>
            </a:pPr>
            <a:r>
              <a:rPr lang="en-US" sz="7200" dirty="0" smtClean="0">
                <a:latin typeface="Times New Roman" pitchFamily="18" charset="0"/>
                <a:cs typeface="Times New Roman" pitchFamily="18" charset="0"/>
              </a:rPr>
              <a:t>Visibility</a:t>
            </a:r>
          </a:p>
          <a:p>
            <a:pPr>
              <a:lnSpc>
                <a:spcPct val="170000"/>
              </a:lnSpc>
            </a:pPr>
            <a:r>
              <a:rPr lang="en-US" sz="7200" dirty="0" smtClean="0">
                <a:latin typeface="Times New Roman" pitchFamily="18" charset="0"/>
                <a:cs typeface="Times New Roman" pitchFamily="18" charset="0"/>
              </a:rPr>
              <a:t>Exposure Management</a:t>
            </a:r>
          </a:p>
          <a:p>
            <a:pPr>
              <a:lnSpc>
                <a:spcPct val="170000"/>
              </a:lnSpc>
            </a:pPr>
            <a:r>
              <a:rPr lang="en-US" sz="7200" dirty="0" smtClean="0">
                <a:latin typeface="Times New Roman" pitchFamily="18" charset="0"/>
                <a:cs typeface="Times New Roman" pitchFamily="18" charset="0"/>
              </a:rPr>
              <a:t>Prevention Controls</a:t>
            </a:r>
          </a:p>
          <a:p>
            <a:pPr>
              <a:lnSpc>
                <a:spcPct val="170000"/>
              </a:lnSpc>
            </a:pPr>
            <a:r>
              <a:rPr lang="en-US" sz="7200" dirty="0" smtClean="0">
                <a:latin typeface="Times New Roman" pitchFamily="18" charset="0"/>
                <a:cs typeface="Times New Roman" pitchFamily="18" charset="0"/>
              </a:rPr>
              <a:t> Detection</a:t>
            </a:r>
          </a:p>
          <a:p>
            <a:pPr>
              <a:lnSpc>
                <a:spcPct val="170000"/>
              </a:lnSpc>
            </a:pPr>
            <a:r>
              <a:rPr lang="en-US" sz="7200" dirty="0" smtClean="0">
                <a:latin typeface="Times New Roman" pitchFamily="18" charset="0"/>
                <a:cs typeface="Times New Roman" pitchFamily="18" charset="0"/>
              </a:rPr>
              <a:t>Response</a:t>
            </a:r>
          </a:p>
          <a:p>
            <a:pPr>
              <a:lnSpc>
                <a:spcPct val="170000"/>
              </a:lnSpc>
              <a:buNone/>
            </a:pPr>
            <a:r>
              <a:rPr lang="en-US" sz="7200" dirty="0" smtClean="0">
                <a:latin typeface="Times New Roman" pitchFamily="18" charset="0"/>
                <a:cs typeface="Times New Roman" pitchFamily="18" charset="0"/>
              </a:rPr>
              <a:t/>
            </a:r>
            <a:br>
              <a:rPr lang="en-US" sz="7200" dirty="0" smtClean="0">
                <a:latin typeface="Times New Roman" pitchFamily="18" charset="0"/>
                <a:cs typeface="Times New Roman" pitchFamily="18" charset="0"/>
              </a:rPr>
            </a:br>
            <a:endParaRPr lang="en-US" sz="7200" dirty="0" smtClean="0">
              <a:latin typeface="Times New Roman" pitchFamily="18" charset="0"/>
              <a:cs typeface="Times New Roman" pitchFamily="18" charset="0"/>
            </a:endParaRP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normAutofit fontScale="92500" lnSpcReduction="10000"/>
          </a:bodyPr>
          <a:lstStyle/>
          <a:p>
            <a:pPr algn="just"/>
            <a:r>
              <a:rPr lang="en-US" dirty="0" smtClean="0">
                <a:latin typeface="Times New Roman" pitchFamily="18" charset="0"/>
                <a:cs typeface="Times New Roman" pitchFamily="18" charset="0"/>
              </a:rPr>
              <a:t>Defense-in-depth is an architectural design that originates from a military strategy requiring attackers to breach multiple lines of defense. In the context of protecting cloud workloads, defense-in-depth relies on multiple defensive mechanisms to protect valuable data, information and intellectual property.</a:t>
            </a:r>
          </a:p>
          <a:p>
            <a:pPr algn="just"/>
            <a:r>
              <a:rPr lang="en-US" dirty="0" err="1" smtClean="0">
                <a:latin typeface="Times New Roman" pitchFamily="18" charset="0"/>
                <a:cs typeface="Times New Roman" pitchFamily="18" charset="0"/>
              </a:rPr>
              <a:t>CrowdStrike</a:t>
            </a:r>
            <a:r>
              <a:rPr lang="en-US" dirty="0" smtClean="0">
                <a:latin typeface="Times New Roman" pitchFamily="18" charset="0"/>
                <a:cs typeface="Times New Roman" pitchFamily="18" charset="0"/>
              </a:rPr>
              <a:t> is an AWS Security Competency Partner, and to apply a defense -in-   depth approach.</a:t>
            </a:r>
          </a:p>
          <a:p>
            <a:pPr algn="just"/>
            <a:r>
              <a:rPr lang="en-US" dirty="0" smtClean="0">
                <a:latin typeface="Times New Roman" pitchFamily="18" charset="0"/>
                <a:cs typeface="Times New Roman" pitchFamily="18" charset="0"/>
              </a:rPr>
              <a:t>Visibility</a:t>
            </a:r>
          </a:p>
          <a:p>
            <a:pPr algn="just"/>
            <a:r>
              <a:rPr lang="en-US" dirty="0" smtClean="0">
                <a:latin typeface="Times New Roman" pitchFamily="18" charset="0"/>
                <a:cs typeface="Times New Roman" pitchFamily="18" charset="0"/>
              </a:rPr>
              <a:t>Prevention</a:t>
            </a:r>
          </a:p>
          <a:p>
            <a:pPr algn="just"/>
            <a:r>
              <a:rPr lang="en-US" dirty="0" smtClean="0">
                <a:latin typeface="Times New Roman" pitchFamily="18" charset="0"/>
                <a:cs typeface="Times New Roman" pitchFamily="18" charset="0"/>
              </a:rPr>
              <a:t>Remediation and response</a:t>
            </a:r>
          </a:p>
          <a:p>
            <a:pPr algn="just"/>
            <a:endParaRPr lang="en-US" dirty="0" smtClean="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Visibility</a:t>
            </a:r>
            <a:br>
              <a:rPr lang="en-US" dirty="0" smtClean="0"/>
            </a:br>
            <a:endParaRPr lang="en-US" dirty="0"/>
          </a:p>
        </p:txBody>
      </p:sp>
      <p:sp>
        <p:nvSpPr>
          <p:cNvPr id="3" name="Text Placeholder 2"/>
          <p:cNvSpPr>
            <a:spLocks noGrp="1"/>
          </p:cNvSpPr>
          <p:nvPr>
            <p:ph type="body" idx="1"/>
          </p:nvPr>
        </p:nvSpPr>
        <p:spPr/>
        <p:txBody>
          <a:bodyPr>
            <a:normAutofit fontScale="92500" lnSpcReduction="20000"/>
          </a:bodyPr>
          <a:lstStyle/>
          <a:p>
            <a:pPr algn="just"/>
            <a:r>
              <a:rPr lang="en-US" dirty="0" smtClean="0">
                <a:latin typeface="Times New Roman" pitchFamily="18" charset="0"/>
                <a:cs typeface="Times New Roman" pitchFamily="18" charset="0"/>
              </a:rPr>
              <a:t>Visibility Drives Clarity</a:t>
            </a:r>
          </a:p>
          <a:p>
            <a:pPr algn="just"/>
            <a:r>
              <a:rPr lang="en-US" dirty="0" smtClean="0">
                <a:latin typeface="Times New Roman" pitchFamily="18" charset="0"/>
                <a:cs typeface="Times New Roman" pitchFamily="18" charset="0"/>
              </a:rPr>
              <a:t>Visibility into all of an organization’s deployed assets and workloads allows operations and security teams to gain clarity into the current state of their environment. </a:t>
            </a:r>
          </a:p>
          <a:p>
            <a:pPr algn="just"/>
            <a:r>
              <a:rPr lang="en-US" dirty="0" smtClean="0">
                <a:latin typeface="Times New Roman" pitchFamily="18" charset="0"/>
                <a:cs typeface="Times New Roman" pitchFamily="18" charset="0"/>
              </a:rPr>
              <a:t>View configurations of all components</a:t>
            </a:r>
          </a:p>
          <a:p>
            <a:pPr algn="just"/>
            <a:r>
              <a:rPr lang="en-US" dirty="0" smtClean="0">
                <a:latin typeface="Times New Roman" pitchFamily="18" charset="0"/>
                <a:cs typeface="Times New Roman" pitchFamily="18" charset="0"/>
              </a:rPr>
              <a:t>Aggregate and monitor system calls and network traffic entering and leaving the workload</a:t>
            </a:r>
          </a:p>
          <a:p>
            <a:pPr algn="just"/>
            <a:r>
              <a:rPr lang="en-US" dirty="0" smtClean="0">
                <a:latin typeface="Times New Roman" pitchFamily="18" charset="0"/>
                <a:cs typeface="Times New Roman" pitchFamily="18" charset="0"/>
              </a:rPr>
              <a:t>Audit API calls</a:t>
            </a:r>
          </a:p>
          <a:p>
            <a:pPr algn="just"/>
            <a:r>
              <a:rPr lang="en-US" dirty="0" smtClean="0">
                <a:latin typeface="Times New Roman" pitchFamily="18" charset="0"/>
                <a:cs typeface="Times New Roman" pitchFamily="18" charset="0"/>
              </a:rPr>
              <a:t>Provide runtime visibility by introspecting system calls made by applications in an Amazon Elastic Cloud Compute (Amazon EC2) instance or a container</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algn="just"/>
            <a:r>
              <a:rPr lang="en-US" dirty="0" smtClean="0">
                <a:latin typeface="Times New Roman" pitchFamily="18" charset="0"/>
                <a:cs typeface="Times New Roman" pitchFamily="18" charset="0"/>
              </a:rPr>
              <a:t>Cloud availability, cloud reliability, and cloud scalability all need to come together to achieve high availability. This means that your products and services are accessible anytime and anywhere, function reliably and as expected, and that the system can seamlessly scale up or down to accommodate customer demand without suffering a loss in performance.</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normAutofit fontScale="92500" lnSpcReduction="20000"/>
          </a:bodyPr>
          <a:lstStyle/>
          <a:p>
            <a:pPr algn="just"/>
            <a:r>
              <a:rPr lang="en-US" dirty="0" smtClean="0">
                <a:latin typeface="Times New Roman" pitchFamily="18" charset="0"/>
                <a:cs typeface="Times New Roman" pitchFamily="18" charset="0"/>
              </a:rPr>
              <a:t>Defense in depth, layered security architecture</a:t>
            </a:r>
          </a:p>
          <a:p>
            <a:pPr algn="just"/>
            <a:r>
              <a:rPr lang="en-US" dirty="0" smtClean="0">
                <a:latin typeface="Times New Roman" pitchFamily="18" charset="0"/>
                <a:cs typeface="Times New Roman" pitchFamily="18" charset="0"/>
              </a:rPr>
              <a:t>Physical controls – These controls include security measures that prevent physical access to IT systems, such as security guards or locked doors.</a:t>
            </a:r>
          </a:p>
          <a:p>
            <a:pPr algn="just"/>
            <a:r>
              <a:rPr lang="en-US" dirty="0" smtClean="0">
                <a:latin typeface="Times New Roman" pitchFamily="18" charset="0"/>
                <a:cs typeface="Times New Roman" pitchFamily="18" charset="0"/>
              </a:rPr>
              <a:t>Technical controls – Technical controls include security measures that protect network systems or resources using specialized hardware or software, such as a firewall appliance or antivirus program.</a:t>
            </a:r>
          </a:p>
          <a:p>
            <a:pPr algn="just"/>
            <a:r>
              <a:rPr lang="en-US" dirty="0" smtClean="0">
                <a:latin typeface="Times New Roman" pitchFamily="18" charset="0"/>
                <a:cs typeface="Times New Roman" pitchFamily="18" charset="0"/>
              </a:rPr>
              <a:t>Administrative controls – Administrative controls are security measures consisting of policies or procedures directed at an organization’s employees, e.g., instructing users to label sensitive information as “confidential”.</a:t>
            </a:r>
          </a:p>
          <a:p>
            <a:pPr algn="just"/>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0"/>
            <a:ext cx="7886700" cy="1325563"/>
          </a:xfrm>
        </p:spPr>
        <p:txBody>
          <a:bodyPr>
            <a:normAutofit/>
          </a:bodyPr>
          <a:lstStyle/>
          <a:p>
            <a:r>
              <a:rPr lang="en-US" dirty="0" smtClean="0"/>
              <a:t>Additionally, the following security layers help protect </a:t>
            </a:r>
            <a:endParaRPr lang="en-US" dirty="0"/>
          </a:p>
        </p:txBody>
      </p:sp>
      <p:sp>
        <p:nvSpPr>
          <p:cNvPr id="3" name="Text Placeholder 2"/>
          <p:cNvSpPr>
            <a:spLocks noGrp="1"/>
          </p:cNvSpPr>
          <p:nvPr>
            <p:ph type="body" idx="1"/>
          </p:nvPr>
        </p:nvSpPr>
        <p:spPr/>
        <p:txBody>
          <a:bodyPr>
            <a:normAutofit fontScale="85000" lnSpcReduction="20000"/>
          </a:bodyPr>
          <a:lstStyle/>
          <a:p>
            <a:pPr algn="just"/>
            <a:r>
              <a:rPr lang="en-US" dirty="0" smtClean="0">
                <a:latin typeface="Times New Roman" pitchFamily="18" charset="0"/>
                <a:cs typeface="Times New Roman" pitchFamily="18" charset="0"/>
              </a:rPr>
              <a:t>Access measures – Access measures include authentication controls, biometrics, timed access and VPN.</a:t>
            </a:r>
          </a:p>
          <a:p>
            <a:pPr algn="just"/>
            <a:r>
              <a:rPr lang="en-US" dirty="0" smtClean="0">
                <a:latin typeface="Times New Roman" pitchFamily="18" charset="0"/>
                <a:cs typeface="Times New Roman" pitchFamily="18" charset="0"/>
              </a:rPr>
              <a:t>Workstation defenses – Workstation defense measures include antivirus and anti-spam software.</a:t>
            </a:r>
          </a:p>
          <a:p>
            <a:pPr algn="just"/>
            <a:r>
              <a:rPr lang="en-US" dirty="0" smtClean="0">
                <a:latin typeface="Times New Roman" pitchFamily="18" charset="0"/>
                <a:cs typeface="Times New Roman" pitchFamily="18" charset="0"/>
              </a:rPr>
              <a:t>Data protection – Data protection methods include data at rest encryption, hashing, secure data transmission and encrypted backups.</a:t>
            </a:r>
          </a:p>
          <a:p>
            <a:pPr algn="just"/>
            <a:r>
              <a:rPr lang="en-US" dirty="0" smtClean="0">
                <a:latin typeface="Times New Roman" pitchFamily="18" charset="0"/>
                <a:cs typeface="Times New Roman" pitchFamily="18" charset="0"/>
              </a:rPr>
              <a:t>Perimeter defenses – Network perimeter defenses include firewalls, intrusion detection systems and intrusion prevention systems.</a:t>
            </a:r>
          </a:p>
          <a:p>
            <a:pPr algn="just"/>
            <a:r>
              <a:rPr lang="en-US" dirty="0" smtClean="0">
                <a:latin typeface="Times New Roman" pitchFamily="18" charset="0"/>
                <a:cs typeface="Times New Roman" pitchFamily="18" charset="0"/>
              </a:rPr>
              <a:t>Monitoring and prevention – The monitoring and prevention of network attacks involves logging and auditing network activity, vulnerability scanners, sandboxing and security awareness training.</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cSld>
  <p:clrMapOvr>
    <a:masterClrMapping/>
  </p:clrMapOvr>
</p:sld>
</file>

<file path=ppt/theme/theme1.xml><?xml version="1.0" encoding="utf-8"?>
<a:theme xmlns:a="http://schemas.openxmlformats.org/drawingml/2006/main" name="1_Office Theme">
  <a:themeElements>
    <a:clrScheme name="Custom 5">
      <a:dk1>
        <a:srgbClr val="000000"/>
      </a:dk1>
      <a:lt1>
        <a:srgbClr val="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Metropolis"/>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427</Words>
  <Application>Microsoft Office PowerPoint</Application>
  <PresentationFormat>On-screen Show (4:3)</PresentationFormat>
  <Paragraphs>100</Paragraphs>
  <Slides>17</Slides>
  <Notes>3</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1_Office Theme</vt:lpstr>
      <vt:lpstr>CLOUD SECURITY (OE00056)</vt:lpstr>
      <vt:lpstr>Objectives</vt:lpstr>
      <vt:lpstr>Scope</vt:lpstr>
      <vt:lpstr>SYLLABUS</vt:lpstr>
      <vt:lpstr>Authentication and Access control</vt:lpstr>
      <vt:lpstr>Authentication</vt:lpstr>
      <vt:lpstr>Slide 7</vt:lpstr>
      <vt:lpstr>Slide 8</vt:lpstr>
      <vt:lpstr>Availability</vt:lpstr>
      <vt:lpstr>Slide 10</vt:lpstr>
      <vt:lpstr>Defense in depth</vt:lpstr>
      <vt:lpstr>Slide 12</vt:lpstr>
      <vt:lpstr>Visibility </vt:lpstr>
      <vt:lpstr>Slide 14</vt:lpstr>
      <vt:lpstr>Slide 15</vt:lpstr>
      <vt:lpstr>Additionally, the following security layers help protect </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SECURITY (OE00056)</dc:title>
  <dc:creator>dell</dc:creator>
  <cp:lastModifiedBy>dell</cp:lastModifiedBy>
  <cp:revision>5</cp:revision>
  <dcterms:created xsi:type="dcterms:W3CDTF">2025-07-18T09:14:58Z</dcterms:created>
  <dcterms:modified xsi:type="dcterms:W3CDTF">2025-08-25T07:00:57Z</dcterms:modified>
</cp:coreProperties>
</file>